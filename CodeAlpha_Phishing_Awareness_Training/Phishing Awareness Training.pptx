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Roboto"/>
      <p:regular r:id="rId32"/>
      <p:bold r:id="rId33"/>
      <p:italic r:id="rId34"/>
      <p:boldItalic r:id="rId35"/>
    </p:embeddedFont>
    <p:embeddedFont>
      <p:font typeface="Roboto Mono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Roboto-bold.fntdata"/><Relationship Id="rId10" Type="http://schemas.openxmlformats.org/officeDocument/2006/relationships/slide" Target="slides/slide5.xml"/><Relationship Id="rId32" Type="http://schemas.openxmlformats.org/officeDocument/2006/relationships/font" Target="fonts/Roboto-regular.fntdata"/><Relationship Id="rId13" Type="http://schemas.openxmlformats.org/officeDocument/2006/relationships/slide" Target="slides/slide8.xml"/><Relationship Id="rId35" Type="http://schemas.openxmlformats.org/officeDocument/2006/relationships/font" Target="fonts/Roboto-boldItalic.fntdata"/><Relationship Id="rId12" Type="http://schemas.openxmlformats.org/officeDocument/2006/relationships/slide" Target="slides/slide7.xml"/><Relationship Id="rId34" Type="http://schemas.openxmlformats.org/officeDocument/2006/relationships/font" Target="fonts/Roboto-italic.fntdata"/><Relationship Id="rId15" Type="http://schemas.openxmlformats.org/officeDocument/2006/relationships/slide" Target="slides/slide10.xml"/><Relationship Id="rId37" Type="http://schemas.openxmlformats.org/officeDocument/2006/relationships/font" Target="fonts/RobotoMono-bold.fntdata"/><Relationship Id="rId14" Type="http://schemas.openxmlformats.org/officeDocument/2006/relationships/slide" Target="slides/slide9.xml"/><Relationship Id="rId36" Type="http://schemas.openxmlformats.org/officeDocument/2006/relationships/font" Target="fonts/RobotoMono-regular.fntdata"/><Relationship Id="rId17" Type="http://schemas.openxmlformats.org/officeDocument/2006/relationships/slide" Target="slides/slide12.xml"/><Relationship Id="rId39" Type="http://schemas.openxmlformats.org/officeDocument/2006/relationships/font" Target="fonts/RobotoMono-boldItalic.fntdata"/><Relationship Id="rId16" Type="http://schemas.openxmlformats.org/officeDocument/2006/relationships/slide" Target="slides/slide11.xml"/><Relationship Id="rId38" Type="http://schemas.openxmlformats.org/officeDocument/2006/relationships/font" Target="fonts/RobotoMono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b867f574aa_0_4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b867f574aa_0_4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bb3dcf435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bb3dcf435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b3dcf4356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b3dcf4356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b3dcf4356_0_7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b3dcf4356_0_7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bb3dcf4356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bb3dcf4356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b3dcf4356_0_7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b3dcf4356_0_7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bb3dcf4356_0_7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bb3dcf4356_0_7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bb3dcf4356_0_7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bb3dcf4356_0_7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bb3dcf4356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bb3dcf4356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bb3dcf4356_0_8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bb3dcf4356_0_8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b3dcf4356_0_8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b3dcf4356_0_8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b3dcf4356_0_8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bb3dcf4356_0_8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bb3dcf4356_0_8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bb3dcf4356_0_8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b3dcf4356_0_8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bb3dcf4356_0_8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b3dcf4356_0_8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b3dcf4356_0_8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bb3dcf4356_0_8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3bb3dcf4356_0_8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bb3dcf4356_0_8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bb3dcf4356_0_8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bb3dcf4356_0_8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bb3dcf4356_0_8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bb3dcf4356_0_8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bb3dcf4356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bb3dcf4356_0_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bb3dcf4356_0_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bb3dcf4356_0_8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bb3dcf4356_0_8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bb3dcf4356_0_8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bb3dcf4356_0_8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bc17d88edd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bc17d88edd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bc17d88edd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bc17d88edd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bc17d88edd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6" name="Google Shape;206;g3bc17d88edd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490800" y="248375"/>
            <a:ext cx="8162400" cy="1196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>
                <a:solidFill>
                  <a:schemeClr val="lt1"/>
                </a:solidFill>
              </a:rPr>
              <a:t>Phishing Awareness Training</a:t>
            </a:r>
            <a:endParaRPr sz="5000">
              <a:solidFill>
                <a:schemeClr val="lt1"/>
              </a:solidFill>
            </a:endParaRPr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28200" y="1665450"/>
            <a:ext cx="8545200" cy="302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</a:rPr>
              <a:t>(Understanding Phishing attacks &amp; prevention)</a:t>
            </a:r>
            <a:endParaRPr sz="20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lt1"/>
              </a:solidFill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0000"/>
                </a:highlight>
              </a:rPr>
              <a:t>Presented By:-</a:t>
            </a:r>
            <a:endParaRPr sz="2000">
              <a:solidFill>
                <a:schemeClr val="lt1"/>
              </a:solidFill>
              <a:highlight>
                <a:srgbClr val="FF0000"/>
              </a:highligh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0000"/>
                </a:highlight>
              </a:rPr>
              <a:t>Aadarsh Tiwari</a:t>
            </a:r>
            <a:endParaRPr sz="2000">
              <a:solidFill>
                <a:schemeClr val="lt1"/>
              </a:solidFill>
              <a:highlight>
                <a:srgbClr val="FF0000"/>
              </a:highlight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lt1"/>
                </a:solidFill>
                <a:highlight>
                  <a:srgbClr val="FF0000"/>
                </a:highlight>
              </a:rPr>
              <a:t>(Code Alpha Intern)</a:t>
            </a:r>
            <a:endParaRPr sz="2000">
              <a:solidFill>
                <a:schemeClr val="lt1"/>
              </a:solidFill>
              <a:highlight>
                <a:srgbClr val="FF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What is Phishing?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74" name="Google Shape;74;p14"/>
          <p:cNvSpPr txBox="1"/>
          <p:nvPr>
            <p:ph idx="1" type="body"/>
          </p:nvPr>
        </p:nvSpPr>
        <p:spPr>
          <a:xfrm>
            <a:off x="471900" y="1919075"/>
            <a:ext cx="5097600" cy="26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5274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43750"/>
              <a:buChar char="●"/>
            </a:pPr>
            <a:r>
              <a:rPr lang="en" sz="1600">
                <a:solidFill>
                  <a:schemeClr val="dk2"/>
                </a:solidFill>
              </a:rPr>
              <a:t>Phishing is a type of </a:t>
            </a:r>
            <a:r>
              <a:rPr b="1" lang="en" sz="1600">
                <a:solidFill>
                  <a:schemeClr val="dk2"/>
                </a:solidFill>
              </a:rPr>
              <a:t>cyber attack</a:t>
            </a:r>
            <a:r>
              <a:rPr lang="en" sz="1600">
                <a:solidFill>
                  <a:schemeClr val="dk2"/>
                </a:solidFill>
              </a:rPr>
              <a:t>.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5274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43750"/>
              <a:buChar char="●"/>
            </a:pPr>
            <a:r>
              <a:rPr lang="en" sz="1600">
                <a:solidFill>
                  <a:schemeClr val="dk2"/>
                </a:solidFill>
              </a:rPr>
              <a:t>Attackers pretend to be </a:t>
            </a:r>
            <a:r>
              <a:rPr b="1" lang="en" sz="1600">
                <a:solidFill>
                  <a:schemeClr val="dk2"/>
                </a:solidFill>
              </a:rPr>
              <a:t>trusted organizations</a:t>
            </a:r>
            <a:r>
              <a:rPr lang="en" sz="1600">
                <a:solidFill>
                  <a:schemeClr val="dk2"/>
                </a:solidFill>
              </a:rPr>
              <a:t> (bank, Google, Amazon).</a:t>
            </a:r>
            <a:br>
              <a:rPr lang="en" sz="1600">
                <a:solidFill>
                  <a:schemeClr val="dk2"/>
                </a:solidFill>
              </a:rPr>
            </a:br>
            <a:endParaRPr sz="1600">
              <a:solidFill>
                <a:schemeClr val="dk2"/>
              </a:solidFill>
            </a:endParaRPr>
          </a:p>
          <a:p>
            <a:pPr indent="-352742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143750"/>
              <a:buChar char="●"/>
            </a:pPr>
            <a:r>
              <a:rPr lang="en" sz="1600">
                <a:solidFill>
                  <a:schemeClr val="dk2"/>
                </a:solidFill>
              </a:rPr>
              <a:t>They try to steal </a:t>
            </a:r>
            <a:r>
              <a:rPr b="1" lang="en" sz="1600">
                <a:solidFill>
                  <a:schemeClr val="dk2"/>
                </a:solidFill>
              </a:rPr>
              <a:t>personal or financial information</a:t>
            </a:r>
            <a:r>
              <a:rPr lang="en" sz="1600">
                <a:solidFill>
                  <a:schemeClr val="dk2"/>
                </a:solidFill>
              </a:rPr>
              <a:t>.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600">
                <a:solidFill>
                  <a:schemeClr val="dk2"/>
                </a:solidFill>
              </a:rPr>
              <a:t> Example:</a:t>
            </a:r>
            <a:br>
              <a:rPr b="1" lang="en" sz="1600">
                <a:solidFill>
                  <a:schemeClr val="dk2"/>
                </a:solidFill>
              </a:rPr>
            </a:br>
            <a:r>
              <a:rPr lang="en" sz="1600">
                <a:solidFill>
                  <a:schemeClr val="dk2"/>
                </a:solidFill>
              </a:rPr>
              <a:t>  Fake email saying </a:t>
            </a:r>
            <a:r>
              <a:rPr i="1" lang="en" sz="1600">
                <a:solidFill>
                  <a:schemeClr val="dk2"/>
                </a:solidFill>
              </a:rPr>
              <a:t>“Your account will be blocked”</a:t>
            </a:r>
            <a:endParaRPr i="1"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6825" y="1919075"/>
            <a:ext cx="3263524" cy="2347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Phishing Dangerous?</a:t>
            </a:r>
            <a:endParaRPr/>
          </a:p>
        </p:txBody>
      </p:sp>
      <p:sp>
        <p:nvSpPr>
          <p:cNvPr id="81" name="Google Shape;81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Financial Loss: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Phishing attacks can lead to direct loss of money when attackers gain access to bank accounts, credit cards, or UPI details.</a:t>
            </a:r>
            <a:b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Identity Theft:</a:t>
            </a:r>
            <a:br>
              <a:rPr b="1"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2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Attackers can steal personal information such as Aadhaar details, PAN, email IDs, and misuse them for illegal activities.</a:t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idx="4294967295" type="body"/>
          </p:nvPr>
        </p:nvSpPr>
        <p:spPr>
          <a:xfrm>
            <a:off x="302250" y="537350"/>
            <a:ext cx="8539500" cy="43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00"/>
                </a:solidFill>
              </a:rPr>
              <a:t>Account Compromise:</a:t>
            </a:r>
            <a:br>
              <a:rPr b="1"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 Email, social media, and work accounts can be hacked, leading to data misuse or further attacks.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00">
                <a:solidFill>
                  <a:srgbClr val="000000"/>
                </a:solidFill>
              </a:rPr>
              <a:t>Data Breaches:</a:t>
            </a:r>
            <a:br>
              <a:rPr b="1"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 Phishing can expose sensitive personal or organizational data, causing privacy violations.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Malware and Ransomware Attacks:</a:t>
            </a:r>
            <a:br>
              <a:rPr b="1"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 Clicking on malicious links or attachments can install harmful software on the system.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</a:rPr>
              <a:t>Loss of Trust and Reputation:</a:t>
            </a:r>
            <a:br>
              <a:rPr b="1" lang="en" sz="1400">
                <a:solidFill>
                  <a:srgbClr val="000000"/>
                </a:solidFill>
              </a:rPr>
            </a:br>
            <a:r>
              <a:rPr lang="en" sz="1400">
                <a:solidFill>
                  <a:srgbClr val="000000"/>
                </a:solidFill>
              </a:rPr>
              <a:t> Organizations may lose customer trust if their users fall victim to phishing attacks.</a:t>
            </a:r>
            <a:br>
              <a:rPr lang="en" sz="1400">
                <a:solidFill>
                  <a:srgbClr val="000000"/>
                </a:solidFill>
              </a:rPr>
            </a:b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 of Phishing Attacks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3" name="Google Shape;93;p17"/>
          <p:cNvPicPr preferRelativeResize="0"/>
          <p:nvPr/>
        </p:nvPicPr>
        <p:blipFill rotWithShape="1">
          <a:blip r:embed="rId3">
            <a:alphaModFix/>
          </a:blip>
          <a:srcRect b="893" l="0" r="0" t="903"/>
          <a:stretch/>
        </p:blipFill>
        <p:spPr>
          <a:xfrm>
            <a:off x="196050" y="1674975"/>
            <a:ext cx="8689499" cy="3311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idx="4294967295" type="body"/>
          </p:nvPr>
        </p:nvSpPr>
        <p:spPr>
          <a:xfrm>
            <a:off x="62925" y="519750"/>
            <a:ext cx="8955600" cy="4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Email Phishing: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Fake emails pretending to be from trusted organizations to steal information.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SMS Phishing (Smishing):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Fraudulent messages with malicious links or urgent warnings.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Voice Phishing (Vishing):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Fake phone calls asking for OTPs, PINs, or bank details.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Website Phishing: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Fake websites that look like real ones to capture login credentials.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Social Media Phishing: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Fake messages or links on platforms like WhatsApp, Instagram, or Facebook.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Spear Phishing: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Targeted attacks aimed at specific individuals or organizations.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How to Recognize Phishing Emails?</a:t>
            </a:r>
            <a:endParaRPr/>
          </a:p>
        </p:txBody>
      </p:sp>
      <p:sp>
        <p:nvSpPr>
          <p:cNvPr id="104" name="Google Shape;104;p19"/>
          <p:cNvSpPr txBox="1"/>
          <p:nvPr>
            <p:ph idx="1" type="body"/>
          </p:nvPr>
        </p:nvSpPr>
        <p:spPr>
          <a:xfrm>
            <a:off x="460950" y="1870650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Urgent or Threatening Language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Messages like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“Act now”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“Account will be blocked”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Unknown or Suspicious Sender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Email address does not match the organization.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idx="4294967295" type="body"/>
          </p:nvPr>
        </p:nvSpPr>
        <p:spPr>
          <a:xfrm>
            <a:off x="471900" y="464725"/>
            <a:ext cx="8222100" cy="416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Spelling and Grammar Errors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Poorly written or unprofessional content.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Suspicious Links or Attachments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Links that look unusual or attachments you didn’t expect.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Requests for Sensitive Information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Asking for passwords, OTPs, or bank details.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Look at an example phishing email on the next slide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382175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Identify Fake Websites?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Suspicious Website URL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Misspelled or strange domain names (e.g., </a:t>
            </a:r>
            <a:r>
              <a:rPr lang="en" sz="14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g00gle.com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HTTPS Security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Missing lock icon or “https://” in the address bar.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>
            <p:ph idx="4294967295" type="body"/>
          </p:nvPr>
        </p:nvSpPr>
        <p:spPr>
          <a:xfrm>
            <a:off x="471900" y="259000"/>
            <a:ext cx="8222100" cy="437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180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Poor Website Design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Low-quality layout, broken links, or wrong logos.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Asks for Sensitive Information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Requests passwords, OTPs, or card details.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Too-Good-to-Be-True Offers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Fake prizes, discounts, or urgent offers.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800"/>
              </a:spcBef>
              <a:spcAft>
                <a:spcPts val="1800"/>
              </a:spcAft>
              <a:buNone/>
            </a:pP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Given on next slide is an 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of a fake website 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25" y="186375"/>
            <a:ext cx="8809925" cy="4526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Engineering Techniques</a:t>
            </a:r>
            <a:endParaRPr/>
          </a:p>
        </p:txBody>
      </p:sp>
      <p:sp>
        <p:nvSpPr>
          <p:cNvPr id="136" name="Google Shape;136;p2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Fear: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Threats like </a:t>
            </a:r>
            <a:r>
              <a:rPr i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“Your account will be blocked”</a:t>
            </a: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to scare users.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Urgency: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Pressuring users to act quickly without thinking.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6"/>
          <p:cNvSpPr txBox="1"/>
          <p:nvPr>
            <p:ph idx="4294967295" type="body"/>
          </p:nvPr>
        </p:nvSpPr>
        <p:spPr>
          <a:xfrm>
            <a:off x="471900" y="307400"/>
            <a:ext cx="8222100" cy="43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Trust: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Pretending to be banks, HR, or trusted companies.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Greed / Rewards: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Fake prizes, offers, or job opportunities.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Authority: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Acting as senior officials or support staff.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02133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Real-World Phishing Examples</a:t>
            </a:r>
            <a:endParaRPr/>
          </a:p>
        </p:txBody>
      </p:sp>
      <p:sp>
        <p:nvSpPr>
          <p:cNvPr id="152" name="Google Shape;152;p28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Now, we wil see some </a:t>
            </a:r>
            <a:r>
              <a:rPr b="1" lang="en">
                <a:solidFill>
                  <a:schemeClr val="dk2"/>
                </a:solidFill>
              </a:rPr>
              <a:t>real-world</a:t>
            </a:r>
            <a:r>
              <a:rPr lang="en">
                <a:solidFill>
                  <a:schemeClr val="dk2"/>
                </a:solidFill>
              </a:rPr>
              <a:t> phishing examples. Starting from the next slide.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34670" cy="4838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29"/>
          <p:cNvSpPr txBox="1"/>
          <p:nvPr/>
        </p:nvSpPr>
        <p:spPr>
          <a:xfrm>
            <a:off x="4117225" y="152400"/>
            <a:ext cx="3834600" cy="79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Real-World Phishing Example: Fake Netflix Email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email </a:t>
            </a:r>
            <a:r>
              <a:rPr b="1" lang="en"/>
              <a:t>pretends to be from Netflix</a:t>
            </a:r>
            <a:r>
              <a:rPr lang="en"/>
              <a:t> to gain the user’s trust.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It creates </a:t>
            </a:r>
            <a:r>
              <a:rPr b="1" lang="en"/>
              <a:t>urgency</a:t>
            </a:r>
            <a:r>
              <a:rPr lang="en"/>
              <a:t> by saying the membership has been cancelled.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</a:t>
            </a:r>
            <a:r>
              <a:rPr b="1" lang="en"/>
              <a:t>“Restart Membership”</a:t>
            </a:r>
            <a:r>
              <a:rPr lang="en"/>
              <a:t> button is used to </a:t>
            </a:r>
            <a:r>
              <a:rPr b="1" lang="en"/>
              <a:t>lure users into clicking</a:t>
            </a:r>
            <a:r>
              <a:rPr lang="en"/>
              <a:t>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Clicking the button may redirect to a </a:t>
            </a:r>
            <a:r>
              <a:rPr b="1" lang="en"/>
              <a:t>fake website</a:t>
            </a:r>
            <a:r>
              <a:rPr lang="en"/>
              <a:t> that steals login or payment details.</a:t>
            </a:r>
            <a:br>
              <a:rPr lang="en"/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message looks </a:t>
            </a:r>
            <a:r>
              <a:rPr b="1" lang="en"/>
              <a:t>professional and legitimate</a:t>
            </a:r>
            <a:r>
              <a:rPr lang="en"/>
              <a:t>, making it hard to detect.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30"/>
          <p:cNvPicPr preferRelativeResize="0"/>
          <p:nvPr/>
        </p:nvPicPr>
        <p:blipFill rotWithShape="1">
          <a:blip r:embed="rId3">
            <a:alphaModFix/>
          </a:blip>
          <a:srcRect b="0" l="0" r="-1719" t="0"/>
          <a:stretch/>
        </p:blipFill>
        <p:spPr>
          <a:xfrm>
            <a:off x="583325" y="152400"/>
            <a:ext cx="7652474" cy="47250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6533" y="152399"/>
            <a:ext cx="7770934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2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Best Practices to Avoid Phishing</a:t>
            </a:r>
            <a:endParaRPr/>
          </a:p>
        </p:txBody>
      </p:sp>
      <p:sp>
        <p:nvSpPr>
          <p:cNvPr id="174" name="Google Shape;174;p32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Do Not Click Suspicious Links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Avoid links from unknown or unexpected emails/messages.</a:t>
            </a:r>
            <a:b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Never Share Sensitive Information</a:t>
            </a:r>
            <a:br>
              <a:rPr b="1"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not share passwords, OTPs, or bank details.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/>
        </p:nvSpPr>
        <p:spPr>
          <a:xfrm>
            <a:off x="108900" y="338850"/>
            <a:ext cx="8449800" cy="28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Verify the Sender</a:t>
            </a:r>
            <a:br>
              <a:rPr b="1" lang="en" sz="1600"/>
            </a:br>
            <a:r>
              <a:rPr lang="en" sz="1600"/>
              <a:t> Check email address and contact details carefully.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Use Strong Passwords &amp; 2FA</a:t>
            </a:r>
            <a:br>
              <a:rPr b="1" lang="en" sz="1600"/>
            </a:br>
            <a:r>
              <a:rPr lang="en" sz="1600"/>
              <a:t> Enable two-factor authentication for extra security.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Keep Software Updated</a:t>
            </a:r>
            <a:br>
              <a:rPr b="1" lang="en" sz="1600"/>
            </a:br>
            <a:r>
              <a:rPr lang="en" sz="1600"/>
              <a:t> Regular updates protect against security threats.</a:t>
            </a:r>
            <a:br>
              <a:rPr lang="en" sz="1600"/>
            </a:b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Report Phishing Attempts</a:t>
            </a:r>
            <a:br>
              <a:rPr b="1" lang="en" sz="1600"/>
            </a:br>
            <a:r>
              <a:rPr lang="en" sz="1600"/>
              <a:t> Inform the organization or IT/security team.</a:t>
            </a:r>
            <a:endParaRPr sz="16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To Do If You Fall Victim?</a:t>
            </a:r>
            <a:endParaRPr/>
          </a:p>
        </p:txBody>
      </p:sp>
      <p:sp>
        <p:nvSpPr>
          <p:cNvPr id="185" name="Google Shape;185;p3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1)Change passwords immediately</a:t>
            </a:r>
            <a:b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6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2)Inform bank or service provider</a:t>
            </a:r>
            <a:b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6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3)Scan device for malware</a:t>
            </a:r>
            <a:b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6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4)Report phishing email</a:t>
            </a:r>
            <a:b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</a:br>
            <a:endParaRPr b="1" sz="196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6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5)Inform IT/security team</a:t>
            </a:r>
            <a:endParaRPr b="1" sz="1960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Interactive Quiz </a:t>
            </a:r>
            <a:endParaRPr/>
          </a:p>
        </p:txBody>
      </p:sp>
      <p:sp>
        <p:nvSpPr>
          <p:cNvPr id="191" name="Google Shape;191;p35"/>
          <p:cNvSpPr txBox="1"/>
          <p:nvPr>
            <p:ph idx="1" type="body"/>
          </p:nvPr>
        </p:nvSpPr>
        <p:spPr>
          <a:xfrm>
            <a:off x="471900" y="1919075"/>
            <a:ext cx="8222100" cy="315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Q.1)You receive an email saying “Your bank account will be blocked in 2 hours. Click here to verify your details.” What is the biggest red flag in this message?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a) The email is from a bank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b) The message creates urgency and pressure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c) It mentions account security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d) It uses formal language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>
                <a:solidFill>
                  <a:schemeClr val="dk2"/>
                </a:solidFill>
              </a:rPr>
              <a:t>Answer:- b) The message creates urgency and pressure</a:t>
            </a:r>
            <a:endParaRPr b="1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36"/>
          <p:cNvSpPr txBox="1"/>
          <p:nvPr>
            <p:ph idx="1" type="body"/>
          </p:nvPr>
        </p:nvSpPr>
        <p:spPr>
          <a:xfrm>
            <a:off x="471900" y="1919075"/>
            <a:ext cx="8222100" cy="30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Q.2)You hover over a link in an email and notice the URL looks strange and misspelled. What should you do next?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a) Click the link to check the website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b) Forward the email to friends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c) Delete or report the email without clicking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d) Reply asking for more details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 sz="1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Answer: c) Delete or report the email without clicking</a:t>
            </a:r>
            <a:endParaRPr b="1" sz="2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7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37"/>
          <p:cNvSpPr txBox="1"/>
          <p:nvPr>
            <p:ph idx="1" type="body"/>
          </p:nvPr>
        </p:nvSpPr>
        <p:spPr>
          <a:xfrm>
            <a:off x="471900" y="1919075"/>
            <a:ext cx="8222100" cy="303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Q.3)You receive an email from “Netflix” stating that your account is cancelled and asking you to click a link to restart your membership. What should you do?</a:t>
            </a:r>
            <a:endParaRPr sz="2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a) Click the link immediately</a:t>
            </a:r>
            <a:b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b) Reply to the email for confirmation</a:t>
            </a:r>
            <a:b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c) Log in directly to the official Netflix website to verify</a:t>
            </a:r>
            <a:b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" sz="2133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d) Share login details via email</a:t>
            </a:r>
            <a:endParaRPr sz="2133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952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Correct Answer: c) Log in directly to the official Netflix website to verify</a:t>
            </a:r>
            <a:endParaRPr b="1" sz="1952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38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209" name="Google Shape;209;p38"/>
          <p:cNvSpPr txBox="1"/>
          <p:nvPr>
            <p:ph idx="1" type="body"/>
          </p:nvPr>
        </p:nvSpPr>
        <p:spPr>
          <a:xfrm>
            <a:off x="471900" y="1919075"/>
            <a:ext cx="8222100" cy="308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Phishing attacks are increasing and target users through emails, messages, calls, and fake websites.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Attackers use social engineering techniques like urgency, fear, and trust to trick users.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Being aware of phishing signs is the </a:t>
            </a: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best defense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against cyber attacks.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Always verify links, emails, and requests before sharing any information.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●"/>
            </a:pPr>
            <a:r>
              <a:rPr b="1"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Think before you click</a:t>
            </a:r>
            <a: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awareness can prevent data and financial loss.</a:t>
            </a:r>
            <a:br>
              <a:rPr lang="en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endParaRPr sz="13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i="1" lang="en" sz="1700">
                <a:solidFill>
                  <a:schemeClr val="dk2"/>
                </a:solidFill>
              </a:rPr>
              <a:t>“Your awareness is your strongest security tool.”</a:t>
            </a:r>
            <a:endParaRPr b="1" i="1"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